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  <p:sldId id="261" r:id="rId3"/>
    <p:sldId id="268" r:id="rId4"/>
    <p:sldId id="256" r:id="rId5"/>
    <p:sldId id="258" r:id="rId6"/>
    <p:sldId id="257" r:id="rId7"/>
    <p:sldId id="269" r:id="rId8"/>
    <p:sldId id="270" r:id="rId9"/>
    <p:sldId id="271" r:id="rId10"/>
    <p:sldId id="259" r:id="rId11"/>
    <p:sldId id="260" r:id="rId12"/>
    <p:sldId id="272" r:id="rId13"/>
    <p:sldId id="273" r:id="rId14"/>
    <p:sldId id="274" r:id="rId15"/>
    <p:sldId id="265" r:id="rId16"/>
    <p:sldId id="275" r:id="rId17"/>
    <p:sldId id="263" r:id="rId18"/>
  </p:sldIdLst>
  <p:sldSz cx="18288000" cy="10287000"/>
  <p:notesSz cx="6858000" cy="9144000"/>
  <p:embeddedFontLst>
    <p:embeddedFont>
      <p:font typeface="ITC Motter Corpus Semicondensed" panose="020B0604020202020204" charset="0"/>
      <p:regular r:id="rId19"/>
    </p:embeddedFont>
    <p:embeddedFont>
      <p:font typeface="Rubik" panose="020B0604020202020204" charset="-79"/>
      <p:regular r:id="rId20"/>
    </p:embeddedFont>
    <p:embeddedFont>
      <p:font typeface="Rubik Bold" panose="020B0604020202020204" charset="-79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A5C26A"/>
    <a:srgbClr val="C5D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22" autoAdjust="0"/>
  </p:normalViewPr>
  <p:slideViewPr>
    <p:cSldViewPr>
      <p:cViewPr>
        <p:scale>
          <a:sx n="50" d="100"/>
          <a:sy n="50" d="100"/>
        </p:scale>
        <p:origin x="1085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97" b="-59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1638300"/>
            <a:ext cx="6886575" cy="572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7200" b="1" u="none" dirty="0" err="1">
                <a:solidFill>
                  <a:srgbClr val="ECF0F1"/>
                </a:solidFill>
                <a:latin typeface="ITC Motter Corpus Semicondensed" panose="020B0604020202020204" charset="0"/>
                <a:ea typeface="HK Grotesk Semi-Bold"/>
                <a:cs typeface="HK Grotesk Semi-Bold"/>
                <a:sym typeface="HK Grotesk Semi-Bold"/>
              </a:rPr>
              <a:t>FogGuard</a:t>
            </a:r>
            <a:endParaRPr lang="en-US" sz="7200" b="1" u="none" dirty="0">
              <a:solidFill>
                <a:srgbClr val="ECF0F1"/>
              </a:solidFill>
              <a:latin typeface="ITC Motter Corpus Semicondensed" panose="020B0604020202020204" charset="0"/>
              <a:ea typeface="HK Grotesk Semi-Bold"/>
              <a:cs typeface="HK Grotesk Semi-Bold"/>
              <a:sym typeface="HK Grotesk Semi-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66750" y="2930652"/>
            <a:ext cx="8324851" cy="6482018"/>
            <a:chOff x="0" y="266700"/>
            <a:chExt cx="11099801" cy="8642690"/>
          </a:xfrm>
        </p:grpSpPr>
        <p:sp>
          <p:nvSpPr>
            <p:cNvPr id="6" name="TextBox 6"/>
            <p:cNvSpPr txBox="1"/>
            <p:nvPr/>
          </p:nvSpPr>
          <p:spPr>
            <a:xfrm>
              <a:off x="0" y="6611325"/>
              <a:ext cx="9182100" cy="2298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</a:rPr>
                <a:t>Mid Evaluation – Progress Presentation</a:t>
              </a:r>
            </a:p>
            <a:p>
              <a:pPr algn="ctr"/>
              <a:endParaRPr lang="en-US" sz="28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2800" dirty="0">
                  <a:solidFill>
                    <a:schemeClr val="bg1"/>
                  </a:solidFill>
                </a:rPr>
                <a:t>Group 18 | Embedded Systems Design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</a:rPr>
                <a:t>Faculty of Engineering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66700"/>
              <a:ext cx="11099801" cy="54168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6600" dirty="0">
                  <a:solidFill>
                    <a:schemeClr val="bg1"/>
                  </a:solidFill>
                  <a:latin typeface="ITC Motter Corpus Semicondensed" panose="020B0604020202020204" charset="0"/>
                </a:rPr>
                <a:t>Roadside Fog Density Monitoring &amp; Accident Prevention System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0"/>
            <a:ext cx="9296400" cy="0"/>
          </a:xfrm>
          <a:prstGeom prst="line">
            <a:avLst/>
          </a:prstGeom>
          <a:ln w="19050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98357" y="0"/>
            <a:ext cx="6189643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953500" cy="7855744"/>
            <a:chOff x="0" y="66675"/>
            <a:chExt cx="11938000" cy="99304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429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6600" dirty="0">
                  <a:solidFill>
                    <a:schemeClr val="bg1"/>
                  </a:solidFill>
                  <a:latin typeface="ITC Motter Corpus Semicondensed" panose="020B0604020202020204" charset="0"/>
                </a:rPr>
                <a:t>Problem Statement</a:t>
              </a:r>
              <a:endParaRPr lang="en-US" sz="6600" dirty="0">
                <a:solidFill>
                  <a:schemeClr val="bg1"/>
                </a:solidFill>
                <a:latin typeface="ITC Motter Corpus Semicondensed" panose="020B0604020202020204" charset="0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8200" y="802371"/>
              <a:ext cx="11099800" cy="257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sz="40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E7554171-C4B6-487C-A833-A9748A3C9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35480"/>
            <a:ext cx="11572399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Fog greatly reduces visibility, specially during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night driving, increasing the risk of road accidents.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Mountain roads, winding roads, and forest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areas are highly prone to fog-related accidents.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Drivers entering fog-affected areas without prior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warning are unaware of the danger ahead.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Drivers who stop and wait for fog to clear still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face a high risk of accidents due to poor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F1756D-3E52-46BE-99C9-83715B8D5FC6}"/>
              </a:ext>
            </a:extLst>
          </p:cNvPr>
          <p:cNvSpPr txBox="1"/>
          <p:nvPr/>
        </p:nvSpPr>
        <p:spPr>
          <a:xfrm>
            <a:off x="1285875" y="76581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ITC Motter Corpus Semicondensed" panose="020B0604020202020204" charset="0"/>
              </a:rPr>
              <a:t>Proposed Idea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0B8A34-EBF7-42D9-BB2C-E533024F8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00" b="18800"/>
          <a:stretch/>
        </p:blipFill>
        <p:spPr>
          <a:xfrm>
            <a:off x="12558629" y="4735413"/>
            <a:ext cx="5573843" cy="518160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70291B8-B86C-4507-B5CF-81924F876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28" y="2801898"/>
            <a:ext cx="1214967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Inform drivers about fog conditions approximately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 km before entering fog affected areas using a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wireless warning system.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 fog level using an LCD and three LED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indicators for easy understanding.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system is designed to be low</a:t>
            </a: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cost, low power, easy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implement.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774EC1-E7C8-4BC2-A1D5-9E5C01D044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149" y="1289953"/>
            <a:ext cx="5573843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444328"/>
            <a:ext cx="10153650" cy="9398343"/>
            <a:chOff x="0" y="0"/>
            <a:chExt cx="2192553" cy="1735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735003"/>
            </a:xfrm>
            <a:custGeom>
              <a:avLst/>
              <a:gdLst/>
              <a:ahLst/>
              <a:cxnLst/>
              <a:rect l="l" t="t" r="r" b="b"/>
              <a:pathLst>
                <a:path w="2192553" h="173500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5A86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20450" y="444328"/>
            <a:ext cx="6496050" cy="9398344"/>
            <a:chOff x="0" y="0"/>
            <a:chExt cx="1066627" cy="11471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-280" r="-280"/>
              </a:stretch>
            </a:blipFill>
          </p:spPr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3F39E6E-36E9-407F-BA5E-0C2AF4E56E11}"/>
              </a:ext>
            </a:extLst>
          </p:cNvPr>
          <p:cNvSpPr txBox="1"/>
          <p:nvPr/>
        </p:nvSpPr>
        <p:spPr>
          <a:xfrm>
            <a:off x="1066800" y="804446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ITC Motter Corpus Semicondensed" panose="020B0604020202020204" charset="0"/>
              </a:rPr>
              <a:t>Project Objectives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761B02-E6C1-45E3-9DB3-21177DD631E0}"/>
              </a:ext>
            </a:extLst>
          </p:cNvPr>
          <p:cNvSpPr txBox="1"/>
          <p:nvPr/>
        </p:nvSpPr>
        <p:spPr>
          <a:xfrm>
            <a:off x="1828800" y="2503587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Detect fog density in real time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Measure environmental humidity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endParaRPr lang="en-US" sz="3600" dirty="0">
              <a:solidFill>
                <a:schemeClr val="bg1"/>
              </a:solidFill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Transmit data wirelessly using LoRa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endParaRPr lang="en-US" sz="3600" dirty="0">
              <a:solidFill>
                <a:schemeClr val="bg1"/>
              </a:solidFill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Provide visual warning to drivers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endParaRPr lang="en-US" sz="3600" dirty="0">
              <a:solidFill>
                <a:schemeClr val="bg1"/>
              </a:solidFill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Develop a low power embedded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5295900"/>
            <a:ext cx="6886575" cy="4324350"/>
            <a:chOff x="0" y="0"/>
            <a:chExt cx="1066911" cy="669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911" cy="669955"/>
            </a:xfrm>
            <a:custGeom>
              <a:avLst/>
              <a:gdLst/>
              <a:ahLst/>
              <a:cxnLst/>
              <a:rect l="l" t="t" r="r" b="b"/>
              <a:pathLst>
                <a:path w="1066911" h="669955">
                  <a:moveTo>
                    <a:pt x="78694" y="0"/>
                  </a:moveTo>
                  <a:lnTo>
                    <a:pt x="988216" y="0"/>
                  </a:lnTo>
                  <a:cubicBezTo>
                    <a:pt x="1009087" y="0"/>
                    <a:pt x="1029104" y="8291"/>
                    <a:pt x="1043862" y="23049"/>
                  </a:cubicBezTo>
                  <a:cubicBezTo>
                    <a:pt x="1058620" y="37807"/>
                    <a:pt x="1066911" y="57823"/>
                    <a:pt x="1066911" y="78694"/>
                  </a:cubicBezTo>
                  <a:lnTo>
                    <a:pt x="1066911" y="591261"/>
                  </a:lnTo>
                  <a:cubicBezTo>
                    <a:pt x="1066911" y="612132"/>
                    <a:pt x="1058620" y="632148"/>
                    <a:pt x="1043862" y="646906"/>
                  </a:cubicBezTo>
                  <a:cubicBezTo>
                    <a:pt x="1029104" y="661664"/>
                    <a:pt x="1009087" y="669955"/>
                    <a:pt x="988216" y="669955"/>
                  </a:cubicBezTo>
                  <a:lnTo>
                    <a:pt x="78694" y="669955"/>
                  </a:lnTo>
                  <a:cubicBezTo>
                    <a:pt x="57823" y="669955"/>
                    <a:pt x="37807" y="661664"/>
                    <a:pt x="23049" y="646906"/>
                  </a:cubicBezTo>
                  <a:cubicBezTo>
                    <a:pt x="8291" y="632148"/>
                    <a:pt x="0" y="612132"/>
                    <a:pt x="0" y="591261"/>
                  </a:cubicBezTo>
                  <a:lnTo>
                    <a:pt x="0" y="78694"/>
                  </a:lnTo>
                  <a:cubicBezTo>
                    <a:pt x="0" y="57823"/>
                    <a:pt x="8291" y="37807"/>
                    <a:pt x="23049" y="23049"/>
                  </a:cubicBezTo>
                  <a:cubicBezTo>
                    <a:pt x="37807" y="8291"/>
                    <a:pt x="57823" y="0"/>
                    <a:pt x="78694" y="0"/>
                  </a:cubicBez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323083"/>
            <a:ext cx="6886575" cy="4324350"/>
            <a:chOff x="0" y="-39962"/>
            <a:chExt cx="1066911" cy="669955"/>
          </a:xfrm>
        </p:grpSpPr>
        <p:sp>
          <p:nvSpPr>
            <p:cNvPr id="5" name="Freeform 5"/>
            <p:cNvSpPr/>
            <p:nvPr/>
          </p:nvSpPr>
          <p:spPr>
            <a:xfrm>
              <a:off x="0" y="-39962"/>
              <a:ext cx="1066911" cy="669955"/>
            </a:xfrm>
            <a:custGeom>
              <a:avLst/>
              <a:gdLst/>
              <a:ahLst/>
              <a:cxnLst/>
              <a:rect l="l" t="t" r="r" b="b"/>
              <a:pathLst>
                <a:path w="1066911" h="669955">
                  <a:moveTo>
                    <a:pt x="78694" y="0"/>
                  </a:moveTo>
                  <a:lnTo>
                    <a:pt x="988216" y="0"/>
                  </a:lnTo>
                  <a:cubicBezTo>
                    <a:pt x="1009087" y="0"/>
                    <a:pt x="1029104" y="8291"/>
                    <a:pt x="1043862" y="23049"/>
                  </a:cubicBezTo>
                  <a:cubicBezTo>
                    <a:pt x="1058620" y="37807"/>
                    <a:pt x="1066911" y="57823"/>
                    <a:pt x="1066911" y="78694"/>
                  </a:cubicBezTo>
                  <a:lnTo>
                    <a:pt x="1066911" y="591261"/>
                  </a:lnTo>
                  <a:cubicBezTo>
                    <a:pt x="1066911" y="612132"/>
                    <a:pt x="1058620" y="632148"/>
                    <a:pt x="1043862" y="646906"/>
                  </a:cubicBezTo>
                  <a:cubicBezTo>
                    <a:pt x="1029104" y="661664"/>
                    <a:pt x="1009087" y="669955"/>
                    <a:pt x="988216" y="669955"/>
                  </a:cubicBezTo>
                  <a:lnTo>
                    <a:pt x="78694" y="669955"/>
                  </a:lnTo>
                  <a:cubicBezTo>
                    <a:pt x="57823" y="669955"/>
                    <a:pt x="37807" y="661664"/>
                    <a:pt x="23049" y="646906"/>
                  </a:cubicBezTo>
                  <a:cubicBezTo>
                    <a:pt x="8291" y="632148"/>
                    <a:pt x="0" y="612132"/>
                    <a:pt x="0" y="591261"/>
                  </a:cubicBezTo>
                  <a:lnTo>
                    <a:pt x="0" y="78694"/>
                  </a:lnTo>
                  <a:cubicBezTo>
                    <a:pt x="0" y="57823"/>
                    <a:pt x="8291" y="37807"/>
                    <a:pt x="23049" y="23049"/>
                  </a:cubicBezTo>
                  <a:cubicBezTo>
                    <a:pt x="37807" y="8291"/>
                    <a:pt x="57823" y="0"/>
                    <a:pt x="78694" y="0"/>
                  </a:cubicBez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SG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100137"/>
            <a:ext cx="8534982" cy="3938695"/>
            <a:chOff x="0" y="577850"/>
            <a:chExt cx="11379976" cy="5251592"/>
          </a:xfrm>
        </p:grpSpPr>
        <p:sp>
          <p:nvSpPr>
            <p:cNvPr id="10" name="TextBox 10"/>
            <p:cNvSpPr txBox="1"/>
            <p:nvPr/>
          </p:nvSpPr>
          <p:spPr>
            <a:xfrm>
              <a:off x="280176" y="577850"/>
              <a:ext cx="11099800" cy="2379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7200" b="1" dirty="0">
                  <a:solidFill>
                    <a:schemeClr val="bg1"/>
                  </a:solidFill>
                  <a:latin typeface="ITC Motter Corpus Semicondensed" panose="020B0604020202020204" charset="0"/>
                  <a:ea typeface="Inter Bold" pitchFamily="34" charset="-122"/>
                  <a:cs typeface="Inter Bold" pitchFamily="34" charset="-120"/>
                </a:rPr>
                <a:t>Hardware</a:t>
              </a:r>
            </a:p>
            <a:p>
              <a:pPr marL="0" indent="0" algn="l">
                <a:lnSpc>
                  <a:spcPts val="4450"/>
                </a:lnSpc>
                <a:buNone/>
              </a:pPr>
              <a:endParaRPr lang="en-US" sz="7200" b="1" dirty="0">
                <a:solidFill>
                  <a:schemeClr val="bg1"/>
                </a:solidFill>
                <a:latin typeface="ITC Motter Corpus Semicondensed" panose="020B0604020202020204" charset="0"/>
                <a:ea typeface="Inter Bold" pitchFamily="34" charset="-122"/>
                <a:cs typeface="Inter Bold" pitchFamily="34" charset="-120"/>
              </a:endParaRPr>
            </a:p>
            <a:p>
              <a:pPr marL="0" indent="0" algn="l">
                <a:lnSpc>
                  <a:spcPts val="4450"/>
                </a:lnSpc>
                <a:buNone/>
              </a:pPr>
              <a:r>
                <a:rPr lang="en-US" sz="7200" b="1" dirty="0">
                  <a:solidFill>
                    <a:schemeClr val="bg1"/>
                  </a:solidFill>
                  <a:latin typeface="ITC Motter Corpus Semicondensed" panose="020B0604020202020204" charset="0"/>
                  <a:ea typeface="Inter Bold" pitchFamily="34" charset="-122"/>
                  <a:cs typeface="Inter Bold" pitchFamily="34" charset="-120"/>
                </a:rPr>
                <a:t> Components</a:t>
              </a:r>
              <a:endParaRPr lang="en-US" sz="7200" dirty="0">
                <a:solidFill>
                  <a:schemeClr val="bg1"/>
                </a:solidFill>
                <a:latin typeface="ITC Motter Corpus Semicondensed" panose="020B0604020202020204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38023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289550"/>
              <a:ext cx="110998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719E020-A163-44C9-AFAA-3DBCE822AB16}"/>
              </a:ext>
            </a:extLst>
          </p:cNvPr>
          <p:cNvSpPr txBox="1"/>
          <p:nvPr/>
        </p:nvSpPr>
        <p:spPr>
          <a:xfrm>
            <a:off x="1981200" y="343534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bg1"/>
                </a:solidFill>
              </a:rPr>
              <a:t>ATmega328PU Microcontroller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bg1"/>
                </a:solidFill>
              </a:rPr>
              <a:t>LoRa Modules 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bg1"/>
                </a:solidFill>
              </a:rPr>
              <a:t>DHT22 Sensor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bg1"/>
                </a:solidFill>
              </a:rPr>
              <a:t>IR Sensor Pair (Emitter and Receiver)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bg1"/>
                </a:solidFill>
              </a:rPr>
              <a:t>LCD Display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bg1"/>
                </a:solidFill>
              </a:rPr>
              <a:t>LED Indicators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800" y="579664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6242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462088"/>
            <a:ext cx="12639675" cy="8024812"/>
            <a:chOff x="0" y="-133350"/>
            <a:chExt cx="16852900" cy="30037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37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endParaRPr lang="en-US" sz="6600" b="1" u="none" strike="noStrike" dirty="0">
                <a:solidFill>
                  <a:srgbClr val="F0F4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8"/>
              <a:ext cx="168529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7489468-459B-49A7-8F5B-4E92F8B899B9}"/>
              </a:ext>
            </a:extLst>
          </p:cNvPr>
          <p:cNvSpPr txBox="1"/>
          <p:nvPr/>
        </p:nvSpPr>
        <p:spPr>
          <a:xfrm>
            <a:off x="2451734" y="2900453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Detects only infrared rays, not normal visible light.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Less affected by headlights or background light, unlike LDR and photocell.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Gives more stable and accurate readings.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 Low cost and easy to </a:t>
            </a:r>
            <a:r>
              <a:rPr lang="en-US" sz="3600" dirty="0" err="1">
                <a:solidFill>
                  <a:schemeClr val="bg1"/>
                </a:solidFill>
              </a:rPr>
              <a:t>use,consumes</a:t>
            </a:r>
            <a:r>
              <a:rPr lang="en-US" sz="3600" dirty="0">
                <a:solidFill>
                  <a:schemeClr val="bg1"/>
                </a:solidFill>
              </a:rPr>
              <a:t> less power. More reliable than LDR or photocell for this application.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31532-7077-4232-B3D6-CA7C037A68EF}"/>
              </a:ext>
            </a:extLst>
          </p:cNvPr>
          <p:cNvSpPr txBox="1"/>
          <p:nvPr/>
        </p:nvSpPr>
        <p:spPr>
          <a:xfrm>
            <a:off x="1547774" y="1559322"/>
            <a:ext cx="6048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TC Motter Corpus Semicondensed" panose="020B0604020202020204" charset="0"/>
              </a:rPr>
              <a:t>Why IR Sensors?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115CDC-AD26-4A5B-B867-A8270A0E6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2443" y="2106456"/>
            <a:ext cx="4993623" cy="6074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8" y="579664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6242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462088"/>
            <a:ext cx="12639675" cy="8024812"/>
            <a:chOff x="0" y="-133350"/>
            <a:chExt cx="16852900" cy="30037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37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endParaRPr lang="en-US" sz="6600" b="1" u="none" strike="noStrike" dirty="0">
                <a:solidFill>
                  <a:srgbClr val="F0F4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8"/>
              <a:ext cx="168529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7489468-459B-49A7-8F5B-4E92F8B899B9}"/>
              </a:ext>
            </a:extLst>
          </p:cNvPr>
          <p:cNvSpPr txBox="1"/>
          <p:nvPr/>
        </p:nvSpPr>
        <p:spPr>
          <a:xfrm>
            <a:off x="2466974" y="3375809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Can measures both temperature and humidity using one sensor.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Gives digital output, so no complex circuit is needed.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Has good accuracy for normal environmental monitoring.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Low cost and consumes low power.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31532-7077-4232-B3D6-CA7C037A68EF}"/>
              </a:ext>
            </a:extLst>
          </p:cNvPr>
          <p:cNvSpPr txBox="1"/>
          <p:nvPr/>
        </p:nvSpPr>
        <p:spPr>
          <a:xfrm>
            <a:off x="1138472" y="1454464"/>
            <a:ext cx="10215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ITC Motter Corpus Semicondensed" panose="020B0604020202020204" charset="0"/>
              </a:rPr>
              <a:t>Why DHT22 Temperature and </a:t>
            </a:r>
          </a:p>
          <a:p>
            <a:r>
              <a:rPr lang="en-US" sz="4800" dirty="0">
                <a:solidFill>
                  <a:schemeClr val="bg1"/>
                </a:solidFill>
                <a:latin typeface="ITC Motter Corpus Semicondensed" panose="020B0604020202020204" charset="0"/>
              </a:rPr>
              <a:t>Humidity Sensor?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AEE5CE-5BAD-4766-8077-7FC468B7B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49" y="1905988"/>
            <a:ext cx="5540843" cy="637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16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8" y="579664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6242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462088"/>
            <a:ext cx="12639675" cy="8024812"/>
            <a:chOff x="0" y="-133350"/>
            <a:chExt cx="16852900" cy="30037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37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endParaRPr lang="en-US" sz="6600" b="1" u="none" strike="noStrike" dirty="0">
                <a:solidFill>
                  <a:srgbClr val="F0F4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8"/>
              <a:ext cx="168529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7489468-459B-49A7-8F5B-4E92F8B899B9}"/>
              </a:ext>
            </a:extLst>
          </p:cNvPr>
          <p:cNvSpPr txBox="1"/>
          <p:nvPr/>
        </p:nvSpPr>
        <p:spPr>
          <a:xfrm>
            <a:off x="2451734" y="2900453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Consumes less power.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Low cost.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Has built-in features like ADC, timers, and communication ports.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Easy to program and implement.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Cost-effective for this system.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31532-7077-4232-B3D6-CA7C037A68EF}"/>
              </a:ext>
            </a:extLst>
          </p:cNvPr>
          <p:cNvSpPr txBox="1"/>
          <p:nvPr/>
        </p:nvSpPr>
        <p:spPr>
          <a:xfrm>
            <a:off x="1547774" y="1559322"/>
            <a:ext cx="6989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TC Motter Corpus Semicondensed" panose="020B0604020202020204" charset="0"/>
              </a:rPr>
              <a:t>Why ATmega328P?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AA655E-4B9D-48CF-A0F1-067DD95DE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2402" y="1947943"/>
            <a:ext cx="5422579" cy="621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30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8" y="581025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6242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462088"/>
            <a:ext cx="12639675" cy="8024812"/>
            <a:chOff x="0" y="-133350"/>
            <a:chExt cx="16852900" cy="30037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37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endParaRPr lang="en-US" sz="6600" b="1" u="none" strike="noStrike" dirty="0">
                <a:solidFill>
                  <a:srgbClr val="F0F4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8"/>
              <a:ext cx="168529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7489468-459B-49A7-8F5B-4E92F8B899B9}"/>
              </a:ext>
            </a:extLst>
          </p:cNvPr>
          <p:cNvSpPr txBox="1"/>
          <p:nvPr/>
        </p:nvSpPr>
        <p:spPr>
          <a:xfrm>
            <a:off x="2451734" y="2900453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Supports long range communication.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Consumes low power.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Moderate in cost.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Easy to set up for point to point communication.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Reduces communication errors over average distances.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Reliable and energy efficient communication.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31532-7077-4232-B3D6-CA7C037A68EF}"/>
              </a:ext>
            </a:extLst>
          </p:cNvPr>
          <p:cNvSpPr txBox="1"/>
          <p:nvPr/>
        </p:nvSpPr>
        <p:spPr>
          <a:xfrm>
            <a:off x="1547774" y="1559322"/>
            <a:ext cx="6864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TC Motter Corpus Semicondensed" panose="020B0604020202020204" charset="0"/>
              </a:rPr>
              <a:t>Why LoRa Module?</a:t>
            </a: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EB883386-332F-45EA-B065-A12CB226FA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599" y="4991099"/>
            <a:ext cx="2950843" cy="295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8E06B0-7610-46CD-8D4E-933754DE9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0" y="1889082"/>
            <a:ext cx="5242011" cy="635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47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5798" y="424540"/>
            <a:ext cx="16916400" cy="9271618"/>
          </a:xfrm>
          <a:custGeom>
            <a:avLst/>
            <a:gdLst/>
            <a:ahLst/>
            <a:cxnLst/>
            <a:rect l="l" t="t" r="r" b="b"/>
            <a:pathLst>
              <a:path w="4465383" h="2358124">
                <a:moveTo>
                  <a:pt x="18265" y="0"/>
                </a:moveTo>
                <a:lnTo>
                  <a:pt x="4447118" y="0"/>
                </a:lnTo>
                <a:cubicBezTo>
                  <a:pt x="4457205" y="0"/>
                  <a:pt x="4465383" y="8178"/>
                  <a:pt x="4465383" y="18265"/>
                </a:cubicBezTo>
                <a:lnTo>
                  <a:pt x="4465383" y="2339858"/>
                </a:lnTo>
                <a:cubicBezTo>
                  <a:pt x="4465383" y="2349946"/>
                  <a:pt x="4457205" y="2358124"/>
                  <a:pt x="4447118" y="2358124"/>
                </a:cubicBezTo>
                <a:lnTo>
                  <a:pt x="18265" y="2358124"/>
                </a:lnTo>
                <a:cubicBezTo>
                  <a:pt x="8178" y="2358124"/>
                  <a:pt x="0" y="2349946"/>
                  <a:pt x="0" y="2339858"/>
                </a:cubicBezTo>
                <a:lnTo>
                  <a:pt x="0" y="18265"/>
                </a:lnTo>
                <a:cubicBezTo>
                  <a:pt x="0" y="8178"/>
                  <a:pt x="8178" y="0"/>
                  <a:pt x="18265" y="0"/>
                </a:cubicBezTo>
                <a:close/>
              </a:path>
            </a:pathLst>
          </a:custGeom>
          <a:solidFill>
            <a:srgbClr val="16242C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1000" y="-266700"/>
            <a:ext cx="17602200" cy="101576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F6D6C3A-B715-4C1D-8689-704BDE924626}"/>
              </a:ext>
            </a:extLst>
          </p:cNvPr>
          <p:cNvGrpSpPr/>
          <p:nvPr/>
        </p:nvGrpSpPr>
        <p:grpSpPr>
          <a:xfrm>
            <a:off x="5577899" y="2095500"/>
            <a:ext cx="6842701" cy="3409890"/>
            <a:chOff x="0" y="1519"/>
            <a:chExt cx="5161908" cy="2696685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7472A275-7B10-40D9-9DD1-EB338FCCE2FF}"/>
                </a:ext>
              </a:extLst>
            </p:cNvPr>
            <p:cNvSpPr/>
            <p:nvPr/>
          </p:nvSpPr>
          <p:spPr>
            <a:xfrm>
              <a:off x="1075893" y="1519"/>
              <a:ext cx="76010" cy="2716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C4D1C76-8F7B-4B05-9777-9B4E1BDB5D81}"/>
                </a:ext>
              </a:extLst>
            </p:cNvPr>
            <p:cNvSpPr/>
            <p:nvPr/>
          </p:nvSpPr>
          <p:spPr>
            <a:xfrm>
              <a:off x="1075893" y="401949"/>
              <a:ext cx="76010" cy="27657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755552E-16F3-4A3E-912B-74B98EAEC6CC}"/>
                </a:ext>
              </a:extLst>
            </p:cNvPr>
            <p:cNvSpPr/>
            <p:nvPr/>
          </p:nvSpPr>
          <p:spPr>
            <a:xfrm>
              <a:off x="1075893" y="805809"/>
              <a:ext cx="76010" cy="27657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C10972A-EFC6-4B88-9481-F18375FB813E}"/>
                </a:ext>
              </a:extLst>
            </p:cNvPr>
            <p:cNvSpPr/>
            <p:nvPr/>
          </p:nvSpPr>
          <p:spPr>
            <a:xfrm>
              <a:off x="1075893" y="1209669"/>
              <a:ext cx="76010" cy="27657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31DB25A-E9B1-46F8-98A2-B988E27AC73C}"/>
                </a:ext>
              </a:extLst>
            </p:cNvPr>
            <p:cNvSpPr/>
            <p:nvPr/>
          </p:nvSpPr>
          <p:spPr>
            <a:xfrm>
              <a:off x="0" y="1613529"/>
              <a:ext cx="76010" cy="27657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3DCB2D0-7D6B-47F0-8A1F-D3678E6DFEF2}"/>
                </a:ext>
              </a:extLst>
            </p:cNvPr>
            <p:cNvSpPr/>
            <p:nvPr/>
          </p:nvSpPr>
          <p:spPr>
            <a:xfrm>
              <a:off x="0" y="2017389"/>
              <a:ext cx="76010" cy="27657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C090795-770A-4B36-9B88-DCC2E3035C9C}"/>
                </a:ext>
              </a:extLst>
            </p:cNvPr>
            <p:cNvSpPr/>
            <p:nvPr/>
          </p:nvSpPr>
          <p:spPr>
            <a:xfrm>
              <a:off x="0" y="2421630"/>
              <a:ext cx="76010" cy="27657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D820E7C-237A-4DF7-BB7A-E233542E106A}"/>
                </a:ext>
              </a:extLst>
            </p:cNvPr>
            <p:cNvSpPr/>
            <p:nvPr/>
          </p:nvSpPr>
          <p:spPr>
            <a:xfrm>
              <a:off x="742137" y="105976"/>
              <a:ext cx="42059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7998F70-9CB1-41AB-86C4-E0E3721962B4}"/>
                </a:ext>
              </a:extLst>
            </p:cNvPr>
            <p:cNvSpPr/>
            <p:nvPr/>
          </p:nvSpPr>
          <p:spPr>
            <a:xfrm>
              <a:off x="3178124" y="90483"/>
              <a:ext cx="594877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BADCEA3-D589-4986-9231-313D0F79E8A6}"/>
                </a:ext>
              </a:extLst>
            </p:cNvPr>
            <p:cNvSpPr/>
            <p:nvPr/>
          </p:nvSpPr>
          <p:spPr>
            <a:xfrm>
              <a:off x="3135452" y="247709"/>
              <a:ext cx="421932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3E379D0-2FD5-4E26-817D-5DBB26AF4756}"/>
                </a:ext>
              </a:extLst>
            </p:cNvPr>
            <p:cNvSpPr/>
            <p:nvPr/>
          </p:nvSpPr>
          <p:spPr>
            <a:xfrm>
              <a:off x="3636849" y="247709"/>
              <a:ext cx="42058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3A1FE4B-6DA0-4474-BD75-5475391CF38A}"/>
                </a:ext>
              </a:extLst>
            </p:cNvPr>
            <p:cNvSpPr/>
            <p:nvPr/>
          </p:nvSpPr>
          <p:spPr>
            <a:xfrm>
              <a:off x="5117034" y="256853"/>
              <a:ext cx="42058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616C6C66-5D6F-42D3-9A90-67780712EEC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0975" y="818171"/>
              <a:ext cx="886968" cy="603504"/>
            </a:xfrm>
            <a:prstGeom prst="rect">
              <a:avLst/>
            </a:prstGeom>
          </p:spPr>
        </p:pic>
        <p:sp>
          <p:nvSpPr>
            <p:cNvPr id="190" name="Shape 236">
              <a:extLst>
                <a:ext uri="{FF2B5EF4-FFF2-40B4-BE49-F238E27FC236}">
                  <a16:creationId xmlns:a16="http://schemas.microsoft.com/office/drawing/2014/main" id="{95CAC05A-9CE8-4FBD-B5F3-3E4389B4FE28}"/>
                </a:ext>
              </a:extLst>
            </p:cNvPr>
            <p:cNvSpPr/>
            <p:nvPr/>
          </p:nvSpPr>
          <p:spPr>
            <a:xfrm>
              <a:off x="85420" y="815002"/>
              <a:ext cx="879475" cy="594995"/>
            </a:xfrm>
            <a:custGeom>
              <a:avLst/>
              <a:gdLst/>
              <a:ahLst/>
              <a:cxnLst/>
              <a:rect l="0" t="0" r="0" b="0"/>
              <a:pathLst>
                <a:path w="879475" h="594995">
                  <a:moveTo>
                    <a:pt x="0" y="594995"/>
                  </a:moveTo>
                  <a:lnTo>
                    <a:pt x="879475" y="594995"/>
                  </a:lnTo>
                  <a:lnTo>
                    <a:pt x="879475" y="0"/>
                  </a:lnTo>
                  <a:lnTo>
                    <a:pt x="0" y="0"/>
                  </a:lnTo>
                  <a:close/>
                </a:path>
              </a:pathLst>
            </a:custGeom>
            <a:ln w="635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85D4DCAB-A33B-4D9B-B5F9-8E8CB4F4E88C}"/>
                </a:ext>
              </a:extLst>
            </p:cNvPr>
            <p:cNvSpPr/>
            <p:nvPr/>
          </p:nvSpPr>
          <p:spPr>
            <a:xfrm>
              <a:off x="269255" y="950736"/>
              <a:ext cx="576707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DHT22 </a:t>
              </a:r>
              <a:endPara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F727BBA-9854-441D-9473-AA55DC0EC0BB}"/>
                </a:ext>
              </a:extLst>
            </p:cNvPr>
            <p:cNvSpPr/>
            <p:nvPr/>
          </p:nvSpPr>
          <p:spPr>
            <a:xfrm>
              <a:off x="171189" y="1088499"/>
              <a:ext cx="736530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Humidity </a:t>
              </a:r>
              <a:endPara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4057C9D-9F07-4607-890C-9A21C3722A71}"/>
                </a:ext>
              </a:extLst>
            </p:cNvPr>
            <p:cNvSpPr/>
            <p:nvPr/>
          </p:nvSpPr>
          <p:spPr>
            <a:xfrm>
              <a:off x="377675" y="1243054"/>
              <a:ext cx="486029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Sensor</a:t>
              </a:r>
              <a:endPara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AE7EB499-BB48-4BE0-898F-3F336BDE2183}"/>
                </a:ext>
              </a:extLst>
            </p:cNvPr>
            <p:cNvSpPr/>
            <p:nvPr/>
          </p:nvSpPr>
          <p:spPr>
            <a:xfrm>
              <a:off x="708609" y="1044761"/>
              <a:ext cx="42059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5" name="Shape 18791">
              <a:extLst>
                <a:ext uri="{FF2B5EF4-FFF2-40B4-BE49-F238E27FC236}">
                  <a16:creationId xmlns:a16="http://schemas.microsoft.com/office/drawing/2014/main" id="{487CAE3E-3AC2-4129-BC76-A139EE6BDC44}"/>
                </a:ext>
              </a:extLst>
            </p:cNvPr>
            <p:cNvSpPr/>
            <p:nvPr/>
          </p:nvSpPr>
          <p:spPr>
            <a:xfrm>
              <a:off x="2155341" y="847864"/>
              <a:ext cx="965835" cy="594995"/>
            </a:xfrm>
            <a:custGeom>
              <a:avLst/>
              <a:gdLst/>
              <a:ahLst/>
              <a:cxnLst/>
              <a:rect l="0" t="0" r="0" b="0"/>
              <a:pathLst>
                <a:path w="965835" h="594995">
                  <a:moveTo>
                    <a:pt x="0" y="0"/>
                  </a:moveTo>
                  <a:lnTo>
                    <a:pt x="965835" y="0"/>
                  </a:lnTo>
                  <a:lnTo>
                    <a:pt x="965835" y="594995"/>
                  </a:lnTo>
                  <a:lnTo>
                    <a:pt x="0" y="59499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B4C7E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96" name="Shape 242">
              <a:extLst>
                <a:ext uri="{FF2B5EF4-FFF2-40B4-BE49-F238E27FC236}">
                  <a16:creationId xmlns:a16="http://schemas.microsoft.com/office/drawing/2014/main" id="{70EEE17C-7334-4178-B48E-B1DA7D1279D4}"/>
                </a:ext>
              </a:extLst>
            </p:cNvPr>
            <p:cNvSpPr/>
            <p:nvPr/>
          </p:nvSpPr>
          <p:spPr>
            <a:xfrm>
              <a:off x="2148259" y="847497"/>
              <a:ext cx="965835" cy="594995"/>
            </a:xfrm>
            <a:custGeom>
              <a:avLst/>
              <a:gdLst/>
              <a:ahLst/>
              <a:cxnLst/>
              <a:rect l="0" t="0" r="0" b="0"/>
              <a:pathLst>
                <a:path w="965835" h="594995">
                  <a:moveTo>
                    <a:pt x="0" y="594995"/>
                  </a:moveTo>
                  <a:lnTo>
                    <a:pt x="965835" y="594995"/>
                  </a:lnTo>
                  <a:lnTo>
                    <a:pt x="965835" y="0"/>
                  </a:lnTo>
                  <a:lnTo>
                    <a:pt x="0" y="0"/>
                  </a:lnTo>
                  <a:close/>
                </a:path>
              </a:pathLst>
            </a:custGeom>
            <a:ln w="6350" cap="flat">
              <a:miter lim="127000"/>
            </a:ln>
          </p:spPr>
          <p:style>
            <a:lnRef idx="1">
              <a:srgbClr val="70AD4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28DC321-E132-4271-A66C-B5A004983113}"/>
                </a:ext>
              </a:extLst>
            </p:cNvPr>
            <p:cNvSpPr/>
            <p:nvPr/>
          </p:nvSpPr>
          <p:spPr>
            <a:xfrm>
              <a:off x="2245047" y="1059262"/>
              <a:ext cx="968189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ATmega328p</a:t>
              </a:r>
              <a:endPara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8AD6C42-9D9C-4D07-AEE4-C27FCCC9F2A6}"/>
                </a:ext>
              </a:extLst>
            </p:cNvPr>
            <p:cNvSpPr/>
            <p:nvPr/>
          </p:nvSpPr>
          <p:spPr>
            <a:xfrm>
              <a:off x="3370149" y="1526345"/>
              <a:ext cx="42058" cy="15032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US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8A6967-0F78-60E7-EC5F-31E34CBD105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277988" y="930740"/>
              <a:ext cx="883920" cy="41757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595F5C-D3E4-46BE-D16D-1F5961F4D360}"/>
                </a:ext>
              </a:extLst>
            </p:cNvPr>
            <p:cNvSpPr/>
            <p:nvPr/>
          </p:nvSpPr>
          <p:spPr>
            <a:xfrm>
              <a:off x="4355810" y="1017285"/>
              <a:ext cx="678184" cy="30754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IR Transmitter and Receiver</a:t>
              </a:r>
              <a:endPara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B493FB1-6202-421F-8236-277947AA2305}"/>
              </a:ext>
            </a:extLst>
          </p:cNvPr>
          <p:cNvSpPr/>
          <p:nvPr/>
        </p:nvSpPr>
        <p:spPr>
          <a:xfrm>
            <a:off x="8293322" y="4527667"/>
            <a:ext cx="1718945" cy="26821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-6350" algn="ctr">
              <a:lnSpc>
                <a:spcPct val="111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LoRa Ra-02 sx1278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4E71FD76-396F-4395-A245-5734A3931163}"/>
              </a:ext>
            </a:extLst>
          </p:cNvPr>
          <p:cNvSpPr/>
          <p:nvPr/>
        </p:nvSpPr>
        <p:spPr>
          <a:xfrm>
            <a:off x="8327879" y="5450171"/>
            <a:ext cx="1718945" cy="34480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-6350" algn="ctr">
              <a:lnSpc>
                <a:spcPct val="111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LoRa Ra-02 sx1278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32C9894-7937-4E5A-9A9F-AD7D79A53019}"/>
              </a:ext>
            </a:extLst>
          </p:cNvPr>
          <p:cNvSpPr/>
          <p:nvPr/>
        </p:nvSpPr>
        <p:spPr>
          <a:xfrm>
            <a:off x="8293322" y="6417089"/>
            <a:ext cx="1718945" cy="34480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-6350" algn="ctr">
              <a:lnSpc>
                <a:spcPct val="111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Atmega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328p</a:t>
            </a:r>
            <a:endParaRPr lang="en-US" sz="11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AD910F80-BD82-45AD-8553-F0C1AD8CEE92}"/>
              </a:ext>
            </a:extLst>
          </p:cNvPr>
          <p:cNvSpPr/>
          <p:nvPr/>
        </p:nvSpPr>
        <p:spPr>
          <a:xfrm>
            <a:off x="6561687" y="7570936"/>
            <a:ext cx="1175619" cy="716704"/>
          </a:xfrm>
          <a:prstGeom prst="rect">
            <a:avLst/>
          </a:prstGeom>
          <a:solidFill>
            <a:srgbClr val="C5D8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Warninng</a:t>
            </a:r>
            <a:r>
              <a:rPr lang="en-US" sz="1600" b="1" dirty="0">
                <a:solidFill>
                  <a:schemeClr val="tx1"/>
                </a:solidFill>
              </a:rPr>
              <a:t> LEDS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B8F23256-6A8C-49A4-B620-727FCDCD8991}"/>
              </a:ext>
            </a:extLst>
          </p:cNvPr>
          <p:cNvSpPr/>
          <p:nvPr/>
        </p:nvSpPr>
        <p:spPr>
          <a:xfrm>
            <a:off x="10395323" y="7571976"/>
            <a:ext cx="1221657" cy="680550"/>
          </a:xfrm>
          <a:prstGeom prst="rect">
            <a:avLst/>
          </a:prstGeom>
          <a:solidFill>
            <a:srgbClr val="C5D8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LCD Display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A1327F8-7AFD-4E69-86D3-A998C9D62399}"/>
              </a:ext>
            </a:extLst>
          </p:cNvPr>
          <p:cNvSpPr txBox="1"/>
          <p:nvPr/>
        </p:nvSpPr>
        <p:spPr>
          <a:xfrm>
            <a:off x="1301556" y="1047122"/>
            <a:ext cx="153619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ITC Motter Corpus Semicondensed" panose="020B0604020202020204" charset="0"/>
              </a:rPr>
              <a:t>High Level System Architecture</a:t>
            </a:r>
          </a:p>
        </p:txBody>
      </p:sp>
      <p:sp>
        <p:nvSpPr>
          <p:cNvPr id="271" name="Arrow: Down 270">
            <a:extLst>
              <a:ext uri="{FF2B5EF4-FFF2-40B4-BE49-F238E27FC236}">
                <a16:creationId xmlns:a16="http://schemas.microsoft.com/office/drawing/2014/main" id="{524B63AC-0C5F-426B-98FD-99FACB8218B1}"/>
              </a:ext>
            </a:extLst>
          </p:cNvPr>
          <p:cNvSpPr/>
          <p:nvPr/>
        </p:nvSpPr>
        <p:spPr>
          <a:xfrm>
            <a:off x="9001958" y="5889548"/>
            <a:ext cx="185393" cy="46514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Arrow: Down 272">
            <a:extLst>
              <a:ext uri="{FF2B5EF4-FFF2-40B4-BE49-F238E27FC236}">
                <a16:creationId xmlns:a16="http://schemas.microsoft.com/office/drawing/2014/main" id="{67CFAE7C-2901-42CF-9DDC-90C9908C29B3}"/>
              </a:ext>
            </a:extLst>
          </p:cNvPr>
          <p:cNvSpPr/>
          <p:nvPr/>
        </p:nvSpPr>
        <p:spPr>
          <a:xfrm>
            <a:off x="8982516" y="4009279"/>
            <a:ext cx="185393" cy="46514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E1E41FB4-49E1-4B0A-A2B7-0628F6642F28}"/>
              </a:ext>
            </a:extLst>
          </p:cNvPr>
          <p:cNvCxnSpPr>
            <a:cxnSpLocks/>
          </p:cNvCxnSpPr>
          <p:nvPr/>
        </p:nvCxnSpPr>
        <p:spPr>
          <a:xfrm>
            <a:off x="9094654" y="6761894"/>
            <a:ext cx="0" cy="420621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A2CF5A74-8F46-4A57-8170-32A9B0E022E1}"/>
              </a:ext>
            </a:extLst>
          </p:cNvPr>
          <p:cNvCxnSpPr/>
          <p:nvPr/>
        </p:nvCxnSpPr>
        <p:spPr>
          <a:xfrm>
            <a:off x="7141782" y="7174459"/>
            <a:ext cx="3848086" cy="0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Arrow: Down 282">
            <a:extLst>
              <a:ext uri="{FF2B5EF4-FFF2-40B4-BE49-F238E27FC236}">
                <a16:creationId xmlns:a16="http://schemas.microsoft.com/office/drawing/2014/main" id="{2C8105F2-15E0-40FB-A201-F6BEDB2BD62E}"/>
              </a:ext>
            </a:extLst>
          </p:cNvPr>
          <p:cNvSpPr/>
          <p:nvPr/>
        </p:nvSpPr>
        <p:spPr>
          <a:xfrm>
            <a:off x="7104880" y="7166404"/>
            <a:ext cx="187258" cy="398902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4" name="Arrow: Down 283">
            <a:extLst>
              <a:ext uri="{FF2B5EF4-FFF2-40B4-BE49-F238E27FC236}">
                <a16:creationId xmlns:a16="http://schemas.microsoft.com/office/drawing/2014/main" id="{F0C08D03-54ED-4910-B1DC-656FD58C5FBF}"/>
              </a:ext>
            </a:extLst>
          </p:cNvPr>
          <p:cNvSpPr/>
          <p:nvPr/>
        </p:nvSpPr>
        <p:spPr>
          <a:xfrm>
            <a:off x="10853633" y="7152982"/>
            <a:ext cx="187258" cy="398902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" name="Arrow: Right 306">
            <a:extLst>
              <a:ext uri="{FF2B5EF4-FFF2-40B4-BE49-F238E27FC236}">
                <a16:creationId xmlns:a16="http://schemas.microsoft.com/office/drawing/2014/main" id="{C997CE58-C4AA-4B00-9E6A-2C30E988C040}"/>
              </a:ext>
            </a:extLst>
          </p:cNvPr>
          <p:cNvSpPr/>
          <p:nvPr/>
        </p:nvSpPr>
        <p:spPr>
          <a:xfrm>
            <a:off x="6982771" y="3442581"/>
            <a:ext cx="1345107" cy="26729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CCD6B90-7914-3621-54E2-4145FC769968}"/>
              </a:ext>
            </a:extLst>
          </p:cNvPr>
          <p:cNvSpPr/>
          <p:nvPr/>
        </p:nvSpPr>
        <p:spPr>
          <a:xfrm rot="10800000">
            <a:off x="9782159" y="3407003"/>
            <a:ext cx="1345107" cy="26729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err="1"/>
              <a:t>rr</a:t>
            </a:r>
            <a:endParaRPr lang="en-US" dirty="0"/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5095385A-0AA5-135D-7CFF-09EA7AF29CB0}"/>
              </a:ext>
            </a:extLst>
          </p:cNvPr>
          <p:cNvSpPr/>
          <p:nvPr/>
        </p:nvSpPr>
        <p:spPr>
          <a:xfrm rot="5400000">
            <a:off x="8811984" y="5020062"/>
            <a:ext cx="529485" cy="188421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111D61-6253-4BB9-BF75-11773F077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43575" y="847725"/>
            <a:ext cx="6800850" cy="11125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DC89A6-141A-436C-957A-589332D7EBB3}"/>
              </a:ext>
            </a:extLst>
          </p:cNvPr>
          <p:cNvSpPr txBox="1"/>
          <p:nvPr/>
        </p:nvSpPr>
        <p:spPr>
          <a:xfrm>
            <a:off x="1295400" y="628649"/>
            <a:ext cx="13182600" cy="202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  <a:latin typeface="ITC Motter Corpus Semicondensed" panose="020B0604020202020204" charset="0"/>
              </a:rPr>
              <a:t>Breadboard-Based Prototype</a:t>
            </a:r>
          </a:p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6000" u="none" strike="noStrike" dirty="0">
                <a:solidFill>
                  <a:schemeClr val="bg1"/>
                </a:solidFill>
                <a:latin typeface="ITC Motter Corpus Semicondensed" panose="020B0604020202020204" charset="0"/>
                <a:ea typeface="ITC Motter Corpus Semicondensed"/>
                <a:cs typeface="ITC Motter Corpus Semicondensed"/>
                <a:sym typeface="ITC Motter Corpus Semicondensed"/>
              </a:rPr>
              <a:t>Transmitter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8DC89A6-141A-436C-957A-589332D7EBB3}"/>
              </a:ext>
            </a:extLst>
          </p:cNvPr>
          <p:cNvSpPr txBox="1"/>
          <p:nvPr/>
        </p:nvSpPr>
        <p:spPr>
          <a:xfrm>
            <a:off x="1295400" y="628649"/>
            <a:ext cx="13182600" cy="202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20"/>
              </a:lnSpc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  <a:latin typeface="ITC Motter Corpus Semicondensed" panose="020B0604020202020204" charset="0"/>
              </a:rPr>
              <a:t>Breadboard-Based Prototype</a:t>
            </a:r>
          </a:p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6000" u="none" strike="noStrike" dirty="0">
                <a:solidFill>
                  <a:schemeClr val="bg1"/>
                </a:solidFill>
                <a:latin typeface="ITC Motter Corpus Semicondensed" panose="020B0604020202020204" charset="0"/>
                <a:ea typeface="ITC Motter Corpus Semicondensed"/>
                <a:cs typeface="ITC Motter Corpus Semicondensed"/>
                <a:sym typeface="ITC Motter Corpus Semicondensed"/>
              </a:rPr>
              <a:t>Receiver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CB196-15C5-410A-B75A-EDCFAA093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34062" y="654306"/>
            <a:ext cx="6619875" cy="1143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71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8" y="420006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6242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462088"/>
            <a:ext cx="12639675" cy="8024812"/>
            <a:chOff x="0" y="-133350"/>
            <a:chExt cx="16852900" cy="30037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37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endParaRPr lang="en-US" sz="6600" b="1" u="none" strike="noStrike" dirty="0">
                <a:solidFill>
                  <a:srgbClr val="F0F4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8"/>
              <a:ext cx="168529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7489468-459B-49A7-8F5B-4E92F8B899B9}"/>
              </a:ext>
            </a:extLst>
          </p:cNvPr>
          <p:cNvSpPr txBox="1"/>
          <p:nvPr/>
        </p:nvSpPr>
        <p:spPr>
          <a:xfrm>
            <a:off x="2451734" y="2900453"/>
            <a:ext cx="1339786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Required components were not available in Proteus.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Photocell was unavailable, replaced with LDR.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LDR showed high sensitivity to ambient light, causing unstable and inaccurate readings.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→ Switched to IR sensor for reliable performance.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 LoRa communication initially failed due to antenna issues.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→ Changed antennas for proper transmission.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Breadboard connection issues (jumper wire errors and loose contacts).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→ Replaced with proper wiring for stable operation.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3DA2D-A6BB-4265-A650-84A9B0F6E23F}"/>
              </a:ext>
            </a:extLst>
          </p:cNvPr>
          <p:cNvSpPr txBox="1"/>
          <p:nvPr/>
        </p:nvSpPr>
        <p:spPr>
          <a:xfrm>
            <a:off x="1504947" y="904224"/>
            <a:ext cx="132397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ITC Motter Corpus Semicondensed" panose="020B0604020202020204" charset="0"/>
                <a:ea typeface="Inter Bold" pitchFamily="34" charset="-122"/>
                <a:cs typeface="Inter Bold" pitchFamily="34" charset="-120"/>
              </a:rPr>
              <a:t>Challenges Faced During Implementation</a:t>
            </a:r>
            <a:endParaRPr lang="en-US" sz="6000" dirty="0">
              <a:solidFill>
                <a:schemeClr val="bg1"/>
              </a:solidFill>
              <a:latin typeface="ITC Motter Corpus Semicondensed" panose="020B0604020202020204" charset="0"/>
            </a:endParaRPr>
          </a:p>
          <a:p>
            <a:endParaRPr lang="en-US" sz="6000" dirty="0">
              <a:solidFill>
                <a:schemeClr val="bg1"/>
              </a:solidFill>
              <a:latin typeface="ITC Motter Corpus Semi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979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4A0B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8" y="80010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6242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462088"/>
            <a:ext cx="12639675" cy="8024812"/>
            <a:chOff x="0" y="-133350"/>
            <a:chExt cx="16852900" cy="30037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37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endParaRPr lang="en-US" sz="6600" b="1" u="none" strike="noStrike" dirty="0">
                <a:solidFill>
                  <a:srgbClr val="F0F4F8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b="1" dirty="0">
                <a:solidFill>
                  <a:srgbClr val="F0F4F8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8"/>
              <a:ext cx="168529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0F4F8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7489468-459B-49A7-8F5B-4E92F8B899B9}"/>
              </a:ext>
            </a:extLst>
          </p:cNvPr>
          <p:cNvSpPr txBox="1"/>
          <p:nvPr/>
        </p:nvSpPr>
        <p:spPr>
          <a:xfrm>
            <a:off x="2445065" y="2392948"/>
            <a:ext cx="13397866" cy="8648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Project proposal finalized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Literature survey completed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ATmega328P standalone setup completed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Bootloader burning and debugging done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LoRa TX–RX communication tested successfully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Basic fog level logic implemented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GitHub repository created and maintained</a:t>
            </a:r>
          </a:p>
          <a:p>
            <a:pPr lvl="1"/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bg1"/>
                </a:solidFill>
              </a:rPr>
              <a:t>LoRa data transmission tested successfully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Fog level data sent from transmitter to receiver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Receiver displays warnings using LCD and LEDs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Serial monitor used for debugging and verification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endParaRPr lang="en-US" sz="3600" dirty="0">
              <a:solidFill>
                <a:schemeClr val="bg1"/>
              </a:solidFill>
            </a:endParaRPr>
          </a:p>
          <a:p>
            <a:pPr marL="1200150" lvl="1" indent="-742950">
              <a:buFont typeface="Wingdings" panose="05000000000000000000" pitchFamily="2" charset="2"/>
              <a:buChar char="v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3DA2D-A6BB-4265-A650-84A9B0F6E23F}"/>
              </a:ext>
            </a:extLst>
          </p:cNvPr>
          <p:cNvSpPr txBox="1"/>
          <p:nvPr/>
        </p:nvSpPr>
        <p:spPr>
          <a:xfrm>
            <a:off x="1504947" y="1171332"/>
            <a:ext cx="132397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ITC Motter Corpus Semicondensed" panose="020B0604020202020204" charset="0"/>
              </a:rPr>
              <a:t>Work Completed So Far</a:t>
            </a:r>
          </a:p>
          <a:p>
            <a:endParaRPr lang="en-US" sz="6000" dirty="0">
              <a:solidFill>
                <a:schemeClr val="bg1"/>
              </a:solidFill>
              <a:latin typeface="ITC Motter Corpus Semi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128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666750" y="851535"/>
            <a:ext cx="9763125" cy="112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6600" b="1" u="none" strike="noStrike" dirty="0">
                <a:solidFill>
                  <a:srgbClr val="FFFFFF"/>
                </a:solidFill>
                <a:latin typeface="ITC Motter Corpus Semicondensed" panose="020B0604020202020204" charset="0"/>
                <a:ea typeface="Georgia Pro Light"/>
                <a:cs typeface="Georgia Pro Light"/>
                <a:sym typeface="Georgia Pro Light"/>
              </a:rPr>
              <a:t>Budget Overview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B6C66A5A-9DBB-4B16-8AEB-7DE46DAC4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15360"/>
              </p:ext>
            </p:extLst>
          </p:nvPr>
        </p:nvGraphicFramePr>
        <p:xfrm>
          <a:off x="3086100" y="2171700"/>
          <a:ext cx="12153900" cy="746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0">
                  <a:extLst>
                    <a:ext uri="{9D8B030D-6E8A-4147-A177-3AD203B41FA5}">
                      <a16:colId xmlns:a16="http://schemas.microsoft.com/office/drawing/2014/main" val="52564719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11360017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4219835323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Estimated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80955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ATMEGA328P-PU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1700.00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30881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LoRa Ra-02 SX1278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3400.00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72467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DHT22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340.00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32135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16MHz Crystal + Capacitors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30.00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735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I2C LCD Display + 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500.00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505455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IR LED 5mm Infrared Transmitter &amp; Receiver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40.00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94841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LEDs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48539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/>
                        <a:t>Resisters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002820"/>
                  </a:ext>
                </a:extLst>
              </a:tr>
              <a:tr h="746760">
                <a:tc gridSpan="2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Total Cost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/>
                    </a:p>
                    <a:p>
                      <a:pPr algn="r"/>
                      <a:r>
                        <a:rPr lang="en-US" sz="2000" b="1" dirty="0"/>
                        <a:t>6035.00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868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666750" y="851535"/>
            <a:ext cx="9763125" cy="112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ITC Motter Corpus Semicondensed" panose="020B0604020202020204" charset="0"/>
                <a:ea typeface="Georgia Pro Light"/>
                <a:cs typeface="Georgia Pro Light"/>
                <a:sym typeface="Georgia Pro Light"/>
              </a:rPr>
              <a:t>Timeline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E9476DF6-528A-405E-9721-16E7F2413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942594"/>
              </p:ext>
            </p:extLst>
          </p:nvPr>
        </p:nvGraphicFramePr>
        <p:xfrm>
          <a:off x="2128838" y="2043113"/>
          <a:ext cx="14025569" cy="7551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4131">
                  <a:extLst>
                    <a:ext uri="{9D8B030D-6E8A-4147-A177-3AD203B41FA5}">
                      <a16:colId xmlns:a16="http://schemas.microsoft.com/office/drawing/2014/main" val="1576394036"/>
                    </a:ext>
                  </a:extLst>
                </a:gridCol>
                <a:gridCol w="872906">
                  <a:extLst>
                    <a:ext uri="{9D8B030D-6E8A-4147-A177-3AD203B41FA5}">
                      <a16:colId xmlns:a16="http://schemas.microsoft.com/office/drawing/2014/main" val="2776615200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1037068527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18678412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1488799624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2386125714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3264753053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3128306798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3466956813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1175566863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3824825721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2038483020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3964220188"/>
                    </a:ext>
                  </a:extLst>
                </a:gridCol>
                <a:gridCol w="800711">
                  <a:extLst>
                    <a:ext uri="{9D8B030D-6E8A-4147-A177-3AD203B41FA5}">
                      <a16:colId xmlns:a16="http://schemas.microsoft.com/office/drawing/2014/main" val="1040174167"/>
                    </a:ext>
                  </a:extLst>
                </a:gridCol>
              </a:tblGrid>
              <a:tr h="751055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13"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                                           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368667"/>
                  </a:ext>
                </a:extLst>
              </a:tr>
              <a:tr h="7510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173693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Problem identification &amp; literature review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500847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Circuit design &amp; proposal making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803869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Component Selection and </a:t>
                      </a:r>
                    </a:p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Acquisition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089742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Firmware development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522834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Hardware assembly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30352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Documentation &amp; GitHub setup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778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Testing &amp; calibration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59148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ITC Motter Corpus Semicondensed" panose="020B0604020202020204" charset="0"/>
                          <a:ea typeface="+mn-ea"/>
                          <a:cs typeface="+mn-cs"/>
                        </a:rPr>
                        <a:t>Final demonstration </a:t>
                      </a:r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ITC Motter Corpus Semicondensed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2224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CD2DDDB-0E66-4974-9F75-D3ECC66A8ECA}"/>
              </a:ext>
            </a:extLst>
          </p:cNvPr>
          <p:cNvSpPr txBox="1"/>
          <p:nvPr/>
        </p:nvSpPr>
        <p:spPr>
          <a:xfrm>
            <a:off x="2514600" y="2552700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Task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09432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D4100ED-535E-4CE5-92BF-5D6E1132A8BF}"/>
              </a:ext>
            </a:extLst>
          </p:cNvPr>
          <p:cNvSpPr txBox="1"/>
          <p:nvPr/>
        </p:nvSpPr>
        <p:spPr>
          <a:xfrm>
            <a:off x="3581400" y="3581400"/>
            <a:ext cx="6904973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6000" b="1" dirty="0">
                <a:solidFill>
                  <a:schemeClr val="bg1"/>
                </a:solidFill>
                <a:latin typeface="ITC Motter Corpus Semicondensed" panose="020B0604020202020204" charset="0"/>
                <a:ea typeface="Inter Bold" pitchFamily="34" charset="-122"/>
                <a:cs typeface="Inter Bold" pitchFamily="34" charset="-120"/>
              </a:rPr>
              <a:t>THANK YOU.!</a:t>
            </a:r>
            <a:endParaRPr lang="en-US" sz="6000" dirty="0">
              <a:solidFill>
                <a:schemeClr val="bg1"/>
              </a:solidFill>
              <a:latin typeface="ITC Motter Corpus Semicondensed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F8028-C927-4274-AA89-B7B86917D5D3}"/>
              </a:ext>
            </a:extLst>
          </p:cNvPr>
          <p:cNvSpPr txBox="1"/>
          <p:nvPr/>
        </p:nvSpPr>
        <p:spPr>
          <a:xfrm>
            <a:off x="1324627" y="3064207"/>
            <a:ext cx="10058400" cy="479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940"/>
              </a:lnSpc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4179BA-77CB-4EBC-B9E3-7D28C3CC1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027" y="7393"/>
            <a:ext cx="6904973" cy="1028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630C9E-2151-4A56-A6E4-BF68146D9C16}"/>
              </a:ext>
            </a:extLst>
          </p:cNvPr>
          <p:cNvSpPr txBox="1"/>
          <p:nvPr/>
        </p:nvSpPr>
        <p:spPr>
          <a:xfrm>
            <a:off x="742950" y="674370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j-lt"/>
                <a:ea typeface="Inter" panose="02000503000000020004" pitchFamily="34" charset="-122"/>
                <a:cs typeface="Inter" panose="02000503000000020004" pitchFamily="34" charset="-120"/>
              </a:rPr>
              <a:t>Group members:  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Inter" panose="02000503000000020004" pitchFamily="34" charset="-122"/>
                <a:cs typeface="Inter" panose="02000503000000020004" pitchFamily="34" charset="-120"/>
              </a:rPr>
              <a:t>                                                                      </a:t>
            </a:r>
          </a:p>
          <a:p>
            <a:r>
              <a:rPr lang="en-US" sz="2400" dirty="0">
                <a:solidFill>
                  <a:schemeClr val="bg1"/>
                </a:solidFill>
              </a:rPr>
              <a:t>LIYANAGE L.D.R.K.                      2022E082</a:t>
            </a:r>
          </a:p>
          <a:p>
            <a:r>
              <a:rPr lang="en-US" sz="2400" dirty="0">
                <a:solidFill>
                  <a:schemeClr val="bg1"/>
                </a:solidFill>
              </a:rPr>
              <a:t>LIYANAWATHTHAGE L.B.K.        2022E083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 COSTA M.S.M.                       2022E092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MADUSHANKA W.N.L.               2022E167</a:t>
            </a:r>
          </a:p>
          <a:p>
            <a:r>
              <a:rPr lang="en-US" sz="2400" dirty="0">
                <a:solidFill>
                  <a:schemeClr val="bg1"/>
                </a:solidFill>
              </a:rPr>
              <a:t>WANNINAYAKA W.M.I.M.         2022E169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706</Words>
  <Application>Microsoft Office PowerPoint</Application>
  <PresentationFormat>Custom</PresentationFormat>
  <Paragraphs>184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ITC Motter Corpus Semicondensed</vt:lpstr>
      <vt:lpstr>Rubik Bold</vt:lpstr>
      <vt:lpstr>Arial</vt:lpstr>
      <vt:lpstr>Times New Roman</vt:lpstr>
      <vt:lpstr>Rubik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L.B.K. Liyanawaththage</cp:lastModifiedBy>
  <cp:revision>31</cp:revision>
  <dcterms:created xsi:type="dcterms:W3CDTF">2006-08-16T00:00:00Z</dcterms:created>
  <dcterms:modified xsi:type="dcterms:W3CDTF">2026-02-19T16:53:59Z</dcterms:modified>
  <dc:identifier>DAHBZt2szX0</dc:identifier>
</cp:coreProperties>
</file>